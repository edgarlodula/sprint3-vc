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140">
                <a:solidFill>
                  <a:srgbClr val="8F5F19"/>
                </a:solidFill>
                <a:latin typeface="Arial"/>
              </a:rPr>
              <a:t>CHALLENGE SPRINT 3 — VISÃO COMPUTACIONAL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240280"/>
            <a:ext cx="111556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3800" b="1" i="0">
                <a:solidFill>
                  <a:srgbClr val="1C1915"/>
                </a:solidFill>
                <a:latin typeface="Arial Black"/>
              </a:rPr>
              <a:t>Leitura de placas industriais:</a:t>
            </a:r>
          </a:p>
          <a:p>
            <a:pPr>
              <a:lnSpc>
                <a:spcPct val="108000"/>
              </a:lnSpc>
            </a:pPr>
            <a:r>
              <a:rPr sz="3800" b="1" i="0">
                <a:solidFill>
                  <a:srgbClr val="1C1915"/>
                </a:solidFill>
                <a:latin typeface="Arial Black"/>
              </a:rPr>
              <a:t>três abordagens, um gabarito,</a:t>
            </a:r>
          </a:p>
          <a:p>
            <a:pPr>
              <a:lnSpc>
                <a:spcPct val="108000"/>
              </a:lnSpc>
            </a:pPr>
            <a:r>
              <a:rPr sz="3800" b="1" i="0">
                <a:solidFill>
                  <a:srgbClr val="1C1915"/>
                </a:solidFill>
                <a:latin typeface="Arial Black"/>
              </a:rPr>
              <a:t>um vencedor.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74920"/>
            <a:ext cx="8961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00" b="0" i="0">
                <a:solidFill>
                  <a:srgbClr val="6B6F6A"/>
                </a:solidFill>
                <a:latin typeface="Arial"/>
              </a:rPr>
              <a:t>EasyOCR, Tesseract e GPT-4o-mini disputando a extração estruturada de dados de nameplates reais — projeto </a:t>
            </a:r>
            <a:r>
              <a:rPr sz="1600" b="1" i="0">
                <a:solidFill>
                  <a:srgbClr val="6B6F6A"/>
                </a:solidFill>
                <a:latin typeface="Arial"/>
              </a:rPr>
              <a:t>Forzy</a:t>
            </a:r>
            <a:r>
              <a:rPr sz="1600" b="0" i="0">
                <a:solidFill>
                  <a:srgbClr val="6B6F6A"/>
                </a:solidFill>
                <a:latin typeface="Arial"/>
              </a:rPr>
              <a:t>, dataset </a:t>
            </a:r>
            <a:r>
              <a:rPr sz="1600" b="0" i="0">
                <a:solidFill>
                  <a:srgbClr val="6B6F6A"/>
                </a:solidFill>
                <a:latin typeface="Arial"/>
              </a:rPr>
              <a:t>kahua-ml/nameplate1</a:t>
            </a:r>
            <a:r>
              <a:rPr sz="1600" b="0" i="0">
                <a:solidFill>
                  <a:srgbClr val="6B6F6A"/>
                </a:solidFill>
                <a:latin typeface="Arial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6A"/>
                </a:solidFill>
                <a:latin typeface="Arial"/>
              </a:rPr>
              <a:t>Grupo CodeX — Tecnólogo em Inteligência Artificial, FIAP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2375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6A"/>
                </a:solidFill>
                <a:latin typeface="Arial"/>
              </a:rPr>
              <a:t>Bruno Nascimento · Edgar Lódula · Guilherme Gama · Igor Nakajima · Júlia Aben-Athar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40">
                <a:solidFill>
                  <a:srgbClr val="6B6F6A"/>
                </a:solidFill>
                <a:latin typeface="Arial"/>
              </a:rPr>
              <a:t>PONTO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8F5F19"/>
                </a:solidFill>
                <a:latin typeface="Consolas"/>
              </a:rPr>
              <a:t>02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185855" cy="1778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C1915"/>
                </a:solidFill>
                <a:latin typeface="Arial Black"/>
              </a:rPr>
              <a:t>Da Sprint 2 pra cá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5349240" cy="4206240"/>
          </a:xfrm>
          <a:prstGeom prst="roundRect">
            <a:avLst>
              <a:gd name="adj" fmla="val 3000"/>
            </a:avLst>
          </a:prstGeom>
          <a:solidFill>
            <a:srgbClr val="D9D6C9"/>
          </a:solidFill>
          <a:ln w="15875">
            <a:solidFill>
              <a:srgbClr val="A84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21408"/>
            <a:ext cx="4837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60">
                <a:solidFill>
                  <a:srgbClr val="A8432A"/>
                </a:solidFill>
                <a:latin typeface="Consolas"/>
              </a:rPr>
              <a:t>SPRINT 2 —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23160"/>
            <a:ext cx="48371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1C1915"/>
                </a:solidFill>
                <a:latin typeface="Arial Black"/>
              </a:rPr>
              <a:t>EasyOCR isolado, 10 imagens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971800"/>
            <a:ext cx="4837176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A8432A"/>
                </a:solidFill>
                <a:latin typeface="Arial"/>
              </a:rPr>
              <a:t>— </a:t>
            </a:r>
            <a:r>
              <a:rPr sz="1300" b="0" i="0">
                <a:solidFill>
                  <a:srgbClr val="1C1915"/>
                </a:solidFill>
                <a:latin typeface="Arial"/>
              </a:rPr>
              <a:t>Taxa de validade: </a:t>
            </a:r>
            <a:r>
              <a:rPr sz="1300" b="1" i="0">
                <a:solidFill>
                  <a:srgbClr val="1C1915"/>
                </a:solidFill>
                <a:latin typeface="Arial"/>
              </a:rPr>
              <a:t>73,0%</a:t>
            </a:r>
            <a:r>
              <a:rPr sz="1300" b="0" i="0">
                <a:solidFill>
                  <a:srgbClr val="1C1915"/>
                </a:solidFill>
                <a:latin typeface="Arial"/>
              </a:rPr>
              <a:t> (127 de 174 campos com confiança ≥ 0,5)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A8432A"/>
                </a:solidFill>
                <a:latin typeface="Arial"/>
              </a:rPr>
              <a:t>— </a:t>
            </a:r>
            <a:r>
              <a:rPr sz="1300" b="0" i="0">
                <a:solidFill>
                  <a:srgbClr val="1C1915"/>
                </a:solidFill>
                <a:latin typeface="Arial"/>
              </a:rPr>
              <a:t>Falha total em fotos do equipamento inteiro (placas 07 e 08)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A8432A"/>
                </a:solidFill>
                <a:latin typeface="Arial"/>
              </a:rPr>
              <a:t>— </a:t>
            </a:r>
            <a:r>
              <a:rPr sz="1300" b="0" i="0">
                <a:solidFill>
                  <a:srgbClr val="1C1915"/>
                </a:solidFill>
                <a:latin typeface="Arial"/>
              </a:rPr>
              <a:t>Rotação corrigida manualmente, caso a caso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A8432A"/>
                </a:solidFill>
                <a:latin typeface="Arial"/>
              </a:rPr>
              <a:t>— </a:t>
            </a:r>
            <a:r>
              <a:rPr sz="1300" b="0" i="0">
                <a:solidFill>
                  <a:srgbClr val="1C1915"/>
                </a:solidFill>
                <a:latin typeface="Arial"/>
              </a:rPr>
              <a:t>Sem gabarito formal — sem acurácia real, só confiança de OCR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920240"/>
            <a:ext cx="5349240" cy="4206240"/>
          </a:xfrm>
          <a:prstGeom prst="roundRect">
            <a:avLst>
              <a:gd name="adj" fmla="val 3000"/>
            </a:avLst>
          </a:prstGeom>
          <a:solidFill>
            <a:srgbClr val="D9D6C9"/>
          </a:solidFill>
          <a:ln w="15875">
            <a:solidFill>
              <a:srgbClr val="3F6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2121408"/>
            <a:ext cx="4837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spc="60">
                <a:solidFill>
                  <a:srgbClr val="3F6F63"/>
                </a:solidFill>
                <a:latin typeface="Consolas"/>
              </a:rPr>
              <a:t>SPRINT 3 — O QUE MUDA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423160"/>
            <a:ext cx="48371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1C1915"/>
                </a:solidFill>
                <a:latin typeface="Arial Black"/>
              </a:rPr>
              <a:t>3 abordagens, 30 imagens, gabarito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971800"/>
            <a:ext cx="4837176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3F6F63"/>
                </a:solidFill>
                <a:latin typeface="Arial"/>
              </a:rPr>
              <a:t>— </a:t>
            </a:r>
            <a:r>
              <a:rPr sz="1300" b="0" i="0">
                <a:solidFill>
                  <a:srgbClr val="1C1915"/>
                </a:solidFill>
                <a:latin typeface="Arial"/>
              </a:rPr>
              <a:t>Rotação automática vira padrão do pipeline, não mais exceção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3F6F63"/>
                </a:solidFill>
                <a:latin typeface="Arial"/>
              </a:rPr>
              <a:t>— </a:t>
            </a:r>
            <a:r>
              <a:rPr sz="1300" b="0" i="0">
                <a:solidFill>
                  <a:srgbClr val="1C1915"/>
                </a:solidFill>
                <a:latin typeface="Arial"/>
              </a:rPr>
              <a:t>Texto bruto → campos estruturados via regex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3F6F63"/>
                </a:solidFill>
                <a:latin typeface="Arial"/>
              </a:rPr>
              <a:t>— </a:t>
            </a:r>
            <a:r>
              <a:rPr sz="1300" b="0" i="0">
                <a:solidFill>
                  <a:srgbClr val="1C1915"/>
                </a:solidFill>
                <a:latin typeface="Arial"/>
              </a:rPr>
              <a:t>+ Tesseract (OCR clássico) e + GPT-4o-mini (multimodal)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3F6F63"/>
                </a:solidFill>
                <a:latin typeface="Arial"/>
              </a:rPr>
              <a:t>— </a:t>
            </a:r>
            <a:r>
              <a:rPr sz="1300" b="0" i="0">
                <a:solidFill>
                  <a:srgbClr val="1C1915"/>
                </a:solidFill>
                <a:latin typeface="Arial"/>
              </a:rPr>
              <a:t>Gabarito manual em 30 imagens → acurácia e CER de verdade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6A"/>
                </a:solidFill>
                <a:latin typeface="Arial"/>
              </a:rPr>
              <a:t>Sprint 3 — Forzy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2375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6A"/>
                </a:solidFill>
                <a:latin typeface="Arial"/>
              </a:rPr>
              <a:t>Recap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40">
                <a:solidFill>
                  <a:srgbClr val="6B6F6A"/>
                </a:solidFill>
                <a:latin typeface="Arial"/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8F5F19"/>
                </a:solidFill>
                <a:latin typeface="Consolas"/>
              </a:rPr>
              <a:t>03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185855" cy="1778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C1915"/>
                </a:solidFill>
                <a:latin typeface="Arial Black"/>
              </a:rPr>
              <a:t>O pipeline, de ponta a ponta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6B6F6A"/>
                </a:solidFill>
                <a:latin typeface="Arial"/>
              </a:rPr>
              <a:t>Mesma entrada, mesmos 5 campos de saída nas três abordagens — comparação justa.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17520"/>
            <a:ext cx="1691640" cy="1371600"/>
          </a:xfrm>
          <a:prstGeom prst="roundRect">
            <a:avLst>
              <a:gd name="adj" fmla="val 3000"/>
            </a:avLst>
          </a:prstGeom>
          <a:solidFill>
            <a:srgbClr val="D9D6C9"/>
          </a:solidFill>
          <a:ln w="15875">
            <a:solidFill>
              <a:srgbClr val="C9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3145536"/>
            <a:ext cx="1472184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C1915"/>
                </a:solidFill>
                <a:latin typeface="Arial Black"/>
              </a:rPr>
              <a:t>Imagem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B6F6A"/>
                </a:solidFill>
                <a:latin typeface="Arial"/>
              </a:rPr>
              <a:t>dataset HuggingFace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017520"/>
            <a:ext cx="4572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6B6F6A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017520"/>
            <a:ext cx="1691640" cy="1371600"/>
          </a:xfrm>
          <a:prstGeom prst="roundRect">
            <a:avLst>
              <a:gd name="adj" fmla="val 3000"/>
            </a:avLst>
          </a:prstGeom>
          <a:solidFill>
            <a:srgbClr val="D9D6C9"/>
          </a:solidFill>
          <a:ln w="15875">
            <a:solidFill>
              <a:srgbClr val="C9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3145536"/>
            <a:ext cx="1472184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C1915"/>
                </a:solidFill>
                <a:latin typeface="Arial Black"/>
              </a:rPr>
              <a:t>Padronização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B6F6A"/>
                </a:solidFill>
                <a:latin typeface="Arial"/>
              </a:rPr>
              <a:t>1500×1500px, CLAHE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017520"/>
            <a:ext cx="4572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6B6F6A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3017520"/>
            <a:ext cx="1920240" cy="420624"/>
          </a:xfrm>
          <a:prstGeom prst="roundRect">
            <a:avLst>
              <a:gd name="adj" fmla="val 3000"/>
            </a:avLst>
          </a:prstGeom>
          <a:solidFill>
            <a:srgbClr val="D9D6C9"/>
          </a:solidFill>
          <a:ln w="15875">
            <a:solidFill>
              <a:srgbClr val="8F5F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0328" y="3145536"/>
            <a:ext cx="170078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C1915"/>
                </a:solidFill>
                <a:latin typeface="Arial Black"/>
              </a:rPr>
              <a:t>EasyOCR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B6F6A"/>
                </a:solidFill>
                <a:latin typeface="Arial"/>
              </a:rPr>
              <a:t>+ regex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493008"/>
            <a:ext cx="1920240" cy="420624"/>
          </a:xfrm>
          <a:prstGeom prst="roundRect">
            <a:avLst>
              <a:gd name="adj" fmla="val 3000"/>
            </a:avLst>
          </a:prstGeom>
          <a:solidFill>
            <a:srgbClr val="D9D6C9"/>
          </a:solidFill>
          <a:ln w="15875">
            <a:solidFill>
              <a:srgbClr val="6B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0328" y="3621024"/>
            <a:ext cx="170078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C1915"/>
                </a:solidFill>
                <a:latin typeface="Arial Black"/>
              </a:rPr>
              <a:t>Tesseract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B6F6A"/>
                </a:solidFill>
                <a:latin typeface="Arial"/>
              </a:rPr>
              <a:t>+ regex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3968496"/>
            <a:ext cx="1920240" cy="420624"/>
          </a:xfrm>
          <a:prstGeom prst="roundRect">
            <a:avLst>
              <a:gd name="adj" fmla="val 3000"/>
            </a:avLst>
          </a:prstGeom>
          <a:solidFill>
            <a:srgbClr val="D9D6C9"/>
          </a:solidFill>
          <a:ln w="15875">
            <a:solidFill>
              <a:srgbClr val="3F6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0328" y="4096512"/>
            <a:ext cx="170078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C1915"/>
                </a:solidFill>
                <a:latin typeface="Arial Black"/>
              </a:rPr>
              <a:t>GPT-4o-mini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B6F6A"/>
                </a:solidFill>
                <a:latin typeface="Arial"/>
              </a:rPr>
              <a:t>JSON direto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017520"/>
            <a:ext cx="4572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6B6F6A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3017520"/>
            <a:ext cx="2286000" cy="1371600"/>
          </a:xfrm>
          <a:prstGeom prst="roundRect">
            <a:avLst>
              <a:gd name="adj" fmla="val 3000"/>
            </a:avLst>
          </a:prstGeom>
          <a:solidFill>
            <a:srgbClr val="D9D6C9"/>
          </a:solidFill>
          <a:ln w="15875">
            <a:solidFill>
              <a:srgbClr val="C9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87768" y="3145536"/>
            <a:ext cx="2066544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C1915"/>
                </a:solidFill>
                <a:latin typeface="Arial Black"/>
              </a:rPr>
              <a:t>5 campos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B6F6A"/>
                </a:solidFill>
                <a:latin typeface="Arial"/>
              </a:rPr>
              <a:t>codigo_ativo · fabricante
modelo · numero_serie · potencia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3017520"/>
            <a:ext cx="4572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6B6F6A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3017520"/>
            <a:ext cx="1737360" cy="1371600"/>
          </a:xfrm>
          <a:prstGeom prst="roundRect">
            <a:avLst>
              <a:gd name="adj" fmla="val 3000"/>
            </a:avLst>
          </a:prstGeom>
          <a:solidFill>
            <a:srgbClr val="D9D6C9"/>
          </a:solidFill>
          <a:ln w="15875">
            <a:solidFill>
              <a:srgbClr val="8F5F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30968" y="3145536"/>
            <a:ext cx="1517904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C1915"/>
                </a:solidFill>
                <a:latin typeface="Arial Black"/>
              </a:rPr>
              <a:t>Gabarito</a:t>
            </a:r>
          </a:p>
          <a:p>
            <a:pPr algn="ctr">
              <a:spcBef>
                <a:spcPts val="200"/>
              </a:spcBef>
            </a:pPr>
            <a:r>
              <a:rPr sz="1000" b="0" i="0">
                <a:solidFill>
                  <a:srgbClr val="6B6F6A"/>
                </a:solidFill>
                <a:latin typeface="Arial"/>
              </a:rPr>
              <a:t>30 imagens, acurácia + CER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6A"/>
                </a:solidFill>
                <a:latin typeface="Arial"/>
              </a:rPr>
              <a:t>Sprint 3 — Forzy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2375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6A"/>
                </a:solidFill>
                <a:latin typeface="Arial"/>
              </a:rPr>
              <a:t>Pipeline geral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40">
                <a:solidFill>
                  <a:srgbClr val="6B6F6A"/>
                </a:solidFill>
                <a:latin typeface="Arial"/>
              </a:rPr>
              <a:t>ABORDAGEM 1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8F5F19"/>
                </a:solidFill>
                <a:latin typeface="Consolas"/>
              </a:rPr>
              <a:t>04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185855" cy="1778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C1915"/>
                </a:solidFill>
                <a:latin typeface="Arial Black"/>
              </a:rPr>
              <a:t>EasyOCR — rotação automática por padrão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1206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50" b="0" i="0">
                <a:solidFill>
                  <a:srgbClr val="1C1915"/>
                </a:solidFill>
                <a:latin typeface="Arial"/>
              </a:rPr>
              <a:t>Rede neural (CRAFT + CRNN) lendo a imagem em 4 orientações (</a:t>
            </a:r>
            <a:r>
              <a:rPr sz="1450" b="0" i="0">
                <a:solidFill>
                  <a:srgbClr val="8F5F19"/>
                </a:solidFill>
                <a:latin typeface="Arial"/>
              </a:rPr>
              <a:t>rotation_info</a:t>
            </a:r>
            <a:r>
              <a:rPr sz="1450" b="0" i="0">
                <a:solidFill>
                  <a:srgbClr val="1C1915"/>
                </a:solidFill>
                <a:latin typeface="Arial"/>
              </a:rPr>
              <a:t>) e descartando leituras com confiança abaixo de 0,5 — a correção manual da Sprint 2 virou parâmetro do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50" b="1" i="0">
                <a:solidFill>
                  <a:srgbClr val="8F5F19"/>
                </a:solidFill>
                <a:latin typeface="Arial"/>
              </a:rPr>
              <a:t>— </a:t>
            </a:r>
            <a:r>
              <a:rPr sz="1350" b="0" i="0">
                <a:solidFill>
                  <a:srgbClr val="1C1915"/>
                </a:solidFill>
                <a:latin typeface="Arial"/>
              </a:rPr>
              <a:t>Entrada: imagem colorida padronizada, sem pré-processamento agressivo</a:t>
            </a:r>
          </a:p>
          <a:p>
            <a:pPr>
              <a:spcAft>
                <a:spcPts val="800"/>
              </a:spcAft>
            </a:pPr>
            <a:r>
              <a:rPr sz="1350" b="1" i="0">
                <a:solidFill>
                  <a:srgbClr val="8F5F19"/>
                </a:solidFill>
                <a:latin typeface="Arial"/>
              </a:rPr>
              <a:t>— </a:t>
            </a:r>
            <a:r>
              <a:rPr sz="1350" b="0" i="0">
                <a:solidFill>
                  <a:srgbClr val="1C1915"/>
                </a:solidFill>
                <a:latin typeface="Arial"/>
              </a:rPr>
              <a:t>Saída: texto bruto + caixas delimitadoras com confiança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486400" cy="3931920"/>
          </a:xfrm>
          <a:prstGeom prst="roundRect">
            <a:avLst>
              <a:gd name="adj" fmla="val 3000"/>
            </a:avLst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956816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B8579"/>
                </a:solidFill>
                <a:latin typeface="Consolas"/>
              </a:rPr>
              <a:t>abordagem_easyocr.py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286000"/>
            <a:ext cx="512064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50" b="0" i="0">
                <a:solidFill>
                  <a:srgbClr val="D9A83C"/>
                </a:solidFill>
                <a:latin typeface="Consolas"/>
              </a:rPr>
              <a:t>import 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easyocr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reader = easyocr.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Reader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(['en'], gpu=</a:t>
            </a:r>
            <a:r>
              <a:rPr sz="1250" b="0" i="0">
                <a:solidFill>
                  <a:srgbClr val="D9A83C"/>
                </a:solidFill>
                <a:latin typeface="Consolas"/>
              </a:rPr>
              <a:t>True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)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LIMIAR_CONFIANCA = 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0.5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D9A83C"/>
                </a:solidFill>
                <a:latin typeface="Consolas"/>
              </a:rPr>
              <a:t>def 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ler_easyocr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(caminho):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resultado = reader.readtext(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    caminho, rotation_info=[90, 180, 270]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)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textos_validos = [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    texto </a:t>
            </a:r>
            <a:r>
              <a:rPr sz="1250" b="0" i="0">
                <a:solidFill>
                  <a:srgbClr val="D9A83C"/>
                </a:solidFill>
                <a:latin typeface="Consolas"/>
              </a:rPr>
              <a:t>for 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(_, texto, conf) </a:t>
            </a:r>
            <a:r>
              <a:rPr sz="1250" b="0" i="0">
                <a:solidFill>
                  <a:srgbClr val="D9A83C"/>
                </a:solidFill>
                <a:latin typeface="Consolas"/>
              </a:rPr>
              <a:t>in 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resultado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    </a:t>
            </a:r>
            <a:r>
              <a:rPr sz="1250" b="0" i="0">
                <a:solidFill>
                  <a:srgbClr val="D9A83C"/>
                </a:solidFill>
                <a:latin typeface="Consolas"/>
              </a:rPr>
              <a:t>if 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conf &gt;= LIMIAR_CONFIANCA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]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D9A83C"/>
                </a:solidFill>
                <a:latin typeface="Consolas"/>
              </a:rPr>
              <a:t>    return 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" ".join(textos_validos), resultado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6A"/>
                </a:solidFill>
                <a:latin typeface="Arial"/>
              </a:rPr>
              <a:t>Sprint 3 — Forzy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2375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6A"/>
                </a:solidFill>
                <a:latin typeface="Arial"/>
              </a:rPr>
              <a:t>Célula 10 do notebook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40">
                <a:solidFill>
                  <a:srgbClr val="6B6F6A"/>
                </a:solidFill>
                <a:latin typeface="Arial"/>
              </a:rPr>
              <a:t>ABORDAGEM 2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8F5F19"/>
                </a:solidFill>
                <a:latin typeface="Consolas"/>
              </a:rPr>
              <a:t>05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185855" cy="1778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C1915"/>
                </a:solidFill>
                <a:latin typeface="Arial Black"/>
              </a:rPr>
              <a:t>Tesseract — OCR clássico + CLAHE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1206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50" b="0" i="0">
                <a:solidFill>
                  <a:srgbClr val="1C1915"/>
                </a:solidFill>
                <a:latin typeface="Arial"/>
              </a:rPr>
              <a:t>Motor LSTM tradicional. Sem suporte nativo a múltiplas rotações — depende inteiramente do contraste local (CLAHE) para compensar placas desgastadas.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51206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50" b="1" i="0">
                <a:solidFill>
                  <a:srgbClr val="8F5F19"/>
                </a:solidFill>
                <a:latin typeface="Arial"/>
              </a:rPr>
              <a:t>— </a:t>
            </a:r>
            <a:r>
              <a:rPr sz="1350" b="0" i="0">
                <a:solidFill>
                  <a:srgbClr val="1C1915"/>
                </a:solidFill>
                <a:latin typeface="Arial"/>
              </a:rPr>
              <a:t>Entrada: escala de cinza + </a:t>
            </a:r>
            <a:r>
              <a:rPr sz="1350" b="0" i="0">
                <a:solidFill>
                  <a:srgbClr val="8F5F19"/>
                </a:solidFill>
                <a:latin typeface="Arial"/>
              </a:rPr>
              <a:t>CLAHE</a:t>
            </a:r>
            <a:r>
              <a:rPr sz="1350" b="0" i="0">
                <a:solidFill>
                  <a:srgbClr val="1C1915"/>
                </a:solidFill>
                <a:latin typeface="Arial"/>
              </a:rPr>
              <a:t> (equalização de contraste local)</a:t>
            </a:r>
          </a:p>
          <a:p>
            <a:pPr>
              <a:spcAft>
                <a:spcPts val="800"/>
              </a:spcAft>
            </a:pPr>
            <a:r>
              <a:rPr sz="1350" b="1" i="0">
                <a:solidFill>
                  <a:srgbClr val="8F5F19"/>
                </a:solidFill>
                <a:latin typeface="Arial"/>
              </a:rPr>
              <a:t>— </a:t>
            </a:r>
            <a:r>
              <a:rPr sz="1350" b="0" i="0">
                <a:solidFill>
                  <a:srgbClr val="1C1915"/>
                </a:solidFill>
                <a:latin typeface="Arial"/>
              </a:rPr>
              <a:t>No Windows, o binário não vem pelo pip — precisa instalar à parte e apontar o caminho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486400" cy="3931920"/>
          </a:xfrm>
          <a:prstGeom prst="roundRect">
            <a:avLst>
              <a:gd name="adj" fmla="val 3000"/>
            </a:avLst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956816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B8579"/>
                </a:solidFill>
                <a:latin typeface="Consolas"/>
              </a:rPr>
              <a:t>abordagem_tesseract.py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286000"/>
            <a:ext cx="512064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50" b="0" i="0">
                <a:solidFill>
                  <a:srgbClr val="D9A83C"/>
                </a:solidFill>
                <a:latin typeface="Consolas"/>
              </a:rPr>
              <a:t>import 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pytesseract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pytesseract.pytesseract.tesseract_cmd = (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8FC7B4"/>
                </a:solidFill>
                <a:latin typeface="Consolas"/>
              </a:rPr>
              <a:t>    "C:/Program Files/Tesseract-OCR/tesseract.exe"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)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D9A83C"/>
                </a:solidFill>
                <a:latin typeface="Consolas"/>
              </a:rPr>
              <a:t>def 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ler_tesseract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(caminho):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img = cv2.imread(caminho)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img_gray = to_grayscale(img)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img_clahe = aplicar_clahe(img_gray)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texto = pytesseract.image_to_string(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    img_clahe, lang=</a:t>
            </a:r>
            <a:r>
              <a:rPr sz="1250" b="0" i="0">
                <a:solidFill>
                  <a:srgbClr val="8FC7B4"/>
                </a:solidFill>
                <a:latin typeface="Consolas"/>
              </a:rPr>
              <a:t>'eng'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)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D9A83C"/>
                </a:solidFill>
                <a:latin typeface="Consolas"/>
              </a:rPr>
              <a:t>    return 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texto.strip()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6A"/>
                </a:solidFill>
                <a:latin typeface="Arial"/>
              </a:rPr>
              <a:t>Sprint 3 — Forzy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2375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6A"/>
                </a:solidFill>
                <a:latin typeface="Arial"/>
              </a:rPr>
              <a:t>Célula 12 do notebook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40">
                <a:solidFill>
                  <a:srgbClr val="6B6F6A"/>
                </a:solidFill>
                <a:latin typeface="Arial"/>
              </a:rPr>
              <a:t>ABORDAGEM 3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8F5F19"/>
                </a:solidFill>
                <a:latin typeface="Consolas"/>
              </a:rPr>
              <a:t>06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185855" cy="1778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C1915"/>
                </a:solidFill>
                <a:latin typeface="Arial Black"/>
              </a:rPr>
              <a:t>GPT-4o-mini — multimodal, sem regex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120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50" b="0" i="0">
                <a:solidFill>
                  <a:srgbClr val="1C1915"/>
                </a:solidFill>
                <a:latin typeface="Arial"/>
              </a:rPr>
              <a:t>A imagem vai em base64 junto de um prompt pedindo os 5 campos em JSON. Não há caixa delimitadora nem casamento de padrão — o modelo interpreta </a:t>
            </a:r>
            <a:r>
              <a:rPr sz="1450" b="1" i="1">
                <a:solidFill>
                  <a:srgbClr val="1C1915"/>
                </a:solidFill>
                <a:latin typeface="Arial"/>
              </a:rPr>
              <a:t>semanticamente</a:t>
            </a:r>
            <a:r>
              <a:rPr sz="1450" b="0" i="0">
                <a:solidFill>
                  <a:srgbClr val="1C1915"/>
                </a:solidFill>
                <a:latin typeface="Arial"/>
              </a:rPr>
              <a:t> qual trecho é qual campo.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00400"/>
            <a:ext cx="51206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50" b="1" i="0">
                <a:solidFill>
                  <a:srgbClr val="8F5F19"/>
                </a:solidFill>
                <a:latin typeface="Arial"/>
              </a:rPr>
              <a:t>— </a:t>
            </a:r>
            <a:r>
              <a:rPr sz="1350" b="0" i="0">
                <a:solidFill>
                  <a:srgbClr val="1C1915"/>
                </a:solidFill>
                <a:latin typeface="Arial"/>
              </a:rPr>
              <a:t>Diferencia “número de série” de “código do ativo” mesmo com formatos parecidos</a:t>
            </a:r>
          </a:p>
          <a:p>
            <a:pPr>
              <a:spcAft>
                <a:spcPts val="800"/>
              </a:spcAft>
            </a:pPr>
            <a:r>
              <a:rPr sz="1350" b="1" i="0">
                <a:solidFill>
                  <a:srgbClr val="8F5F19"/>
                </a:solidFill>
                <a:latin typeface="Arial"/>
              </a:rPr>
              <a:t>— </a:t>
            </a:r>
            <a:r>
              <a:rPr sz="1350" b="0" i="0">
                <a:solidFill>
                  <a:srgbClr val="1C1915"/>
                </a:solidFill>
                <a:latin typeface="Arial"/>
              </a:rPr>
              <a:t>Instrução explícita: usar </a:t>
            </a:r>
            <a:r>
              <a:rPr sz="1350" b="0" i="0">
                <a:solidFill>
                  <a:srgbClr val="8F5F19"/>
                </a:solidFill>
                <a:latin typeface="Arial"/>
              </a:rPr>
              <a:t>"N/A"</a:t>
            </a:r>
            <a:r>
              <a:rPr sz="1350" b="0" i="0">
                <a:solidFill>
                  <a:srgbClr val="1C1915"/>
                </a:solidFill>
                <a:latin typeface="Arial"/>
              </a:rPr>
              <a:t> quando o campo não existir — nem sempre obedecida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486400" cy="3931920"/>
          </a:xfrm>
          <a:prstGeom prst="roundRect">
            <a:avLst>
              <a:gd name="adj" fmla="val 3000"/>
            </a:avLst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956816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B8579"/>
                </a:solidFill>
                <a:latin typeface="Consolas"/>
              </a:rPr>
              <a:t>abordagem_gpt4o.py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286000"/>
            <a:ext cx="512064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PROMPT_GPT4O = (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8FC7B4"/>
                </a:solidFill>
                <a:latin typeface="Consolas"/>
              </a:rPr>
              <a:t>    "Extraia os 5 campos do ativo em "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8FC7B4"/>
                </a:solidFill>
                <a:latin typeface="Consolas"/>
              </a:rPr>
              <a:t>    "JSON; use \"N/A\" se nao existir."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)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D9A83C"/>
                </a:solidFill>
                <a:latin typeface="Consolas"/>
              </a:rPr>
              <a:t>def 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ler_gpt4o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(caminho, modelo=</a:t>
            </a:r>
            <a:r>
              <a:rPr sz="1250" b="0" i="0">
                <a:solidFill>
                  <a:srgbClr val="8FC7B4"/>
                </a:solidFill>
                <a:latin typeface="Consolas"/>
              </a:rPr>
              <a:t>"gpt-4o-mini"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):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img_b64 = base64.b64encode(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    open(caminho, </a:t>
            </a:r>
            <a:r>
              <a:rPr sz="1250" b="0" i="0">
                <a:solidFill>
                  <a:srgbClr val="8FC7B4"/>
                </a:solidFill>
                <a:latin typeface="Consolas"/>
              </a:rPr>
              <a:t>"rb"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).read()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).decode()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resposta = client.chat.completions.create(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    model=modelo, messages=[{</a:t>
            </a:r>
            <a:r>
              <a:rPr sz="1250" b="0" i="0">
                <a:solidFill>
                  <a:srgbClr val="8FC7B4"/>
                </a:solidFill>
                <a:latin typeface="Consolas"/>
              </a:rPr>
              <a:t>"role"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: </a:t>
            </a:r>
            <a:r>
              <a:rPr sz="1250" b="0" i="0">
                <a:solidFill>
                  <a:srgbClr val="8FC7B4"/>
                </a:solidFill>
                <a:latin typeface="Consolas"/>
              </a:rPr>
              <a:t>"user"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, ...}]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)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D9A83C"/>
                </a:solidFill>
                <a:latin typeface="Consolas"/>
              </a:rPr>
              <a:t>    return 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json.loads(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    resposta.choices[0].message.content)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6A"/>
                </a:solidFill>
                <a:latin typeface="Arial"/>
              </a:rPr>
              <a:t>Sprint 3 — Forzy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2375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6A"/>
                </a:solidFill>
                <a:latin typeface="Arial"/>
              </a:rPr>
              <a:t>Célula 14 do notebook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40">
                <a:solidFill>
                  <a:srgbClr val="6B6F6A"/>
                </a:solidFill>
                <a:latin typeface="Arial"/>
              </a:rPr>
              <a:t>ONDE EASYOCR E TESSERACT PERDEM PONTOS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8F5F19"/>
                </a:solidFill>
                <a:latin typeface="Consolas"/>
              </a:rPr>
              <a:t>07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185855" cy="1778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1C1915"/>
                </a:solidFill>
                <a:latin typeface="Arial Black"/>
              </a:rPr>
              <a:t>Pós-processamento por regex — e um bug que achamos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5486400" cy="4114800"/>
          </a:xfrm>
          <a:prstGeom prst="roundRect">
            <a:avLst>
              <a:gd name="adj" fmla="val 3000"/>
            </a:avLst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002535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B8579"/>
                </a:solidFill>
                <a:latin typeface="Consolas"/>
              </a:rPr>
              <a:t>extrair_campos_regex.py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331719"/>
            <a:ext cx="5120640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50" b="0" i="0">
                <a:solidFill>
                  <a:srgbClr val="D9A83C"/>
                </a:solidFill>
                <a:latin typeface="Consolas"/>
              </a:rPr>
              <a:t>def 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extrair_campos_regex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(texto_bruto):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texto = texto_bruto.upper()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campos = {c: </a:t>
            </a:r>
            <a:r>
              <a:rPr sz="1250" b="0" i="0">
                <a:solidFill>
                  <a:srgbClr val="8FC7B4"/>
                </a:solidFill>
                <a:latin typeface="Consolas"/>
              </a:rPr>
              <a:t>"N/A"</a:t>
            </a:r>
            <a:r>
              <a:rPr sz="1250" b="0" i="0">
                <a:solidFill>
                  <a:srgbClr val="D9A83C"/>
                </a:solidFill>
                <a:latin typeface="Consolas"/>
              </a:rPr>
              <a:t> for 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c </a:t>
            </a:r>
            <a:r>
              <a:rPr sz="1250" b="0" i="0">
                <a:solidFill>
                  <a:srgbClr val="D9A83C"/>
                </a:solidFill>
                <a:latin typeface="Consolas"/>
              </a:rPr>
              <a:t>in 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CAMPOS}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m = re.search(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8FC7B4"/>
                </a:solidFill>
                <a:latin typeface="Consolas"/>
              </a:rPr>
              <a:t>        r'\b\d{2,3}-[A-Z]-\d{3,5}\b'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, texto)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D9A83C"/>
                </a:solidFill>
                <a:latin typeface="Consolas"/>
              </a:rPr>
              <a:t>    if 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m: campos[</a:t>
            </a:r>
            <a:r>
              <a:rPr sz="1250" b="0" i="0">
                <a:solidFill>
                  <a:srgbClr val="8FC7B4"/>
                </a:solidFill>
                <a:latin typeface="Consolas"/>
              </a:rPr>
              <a:t>"codigo_ativo"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] = m.group()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D9A83C"/>
                </a:solidFill>
                <a:latin typeface="Consolas"/>
              </a:rPr>
              <a:t>    for 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fab </a:t>
            </a:r>
            <a:r>
              <a:rPr sz="1250" b="0" i="0">
                <a:solidFill>
                  <a:srgbClr val="D9A83C"/>
                </a:solidFill>
                <a:latin typeface="Consolas"/>
              </a:rPr>
              <a:t>in 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FABRICANTES_CONHECIDOS: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D9A83C"/>
                </a:solidFill>
                <a:latin typeface="Consolas"/>
              </a:rPr>
              <a:t>        if 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fab </a:t>
            </a:r>
            <a:r>
              <a:rPr sz="1250" b="0" i="0">
                <a:solidFill>
                  <a:srgbClr val="D9A83C"/>
                </a:solidFill>
                <a:latin typeface="Consolas"/>
              </a:rPr>
              <a:t>in 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texto: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        campos[</a:t>
            </a:r>
            <a:r>
              <a:rPr sz="1250" b="0" i="0">
                <a:solidFill>
                  <a:srgbClr val="8FC7B4"/>
                </a:solidFill>
                <a:latin typeface="Consolas"/>
              </a:rPr>
              <a:t>"fabricante"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] = fab.title()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D9A83C"/>
                </a:solidFill>
                <a:latin typeface="Consolas"/>
              </a:rPr>
              <a:t>            break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8B8579"/>
                </a:solidFill>
                <a:latin typeface="Consolas"/>
              </a:rPr>
              <a:t>    # 'modelo' nao tem padrao textual confiavel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874519"/>
            <a:ext cx="51206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50" b="1" i="0">
                <a:solidFill>
                  <a:srgbClr val="1C1915"/>
                </a:solidFill>
                <a:latin typeface="Arial"/>
              </a:rPr>
              <a:t>Achado da Sprint 3: </a:t>
            </a:r>
            <a:r>
              <a:rPr sz="1450" b="0" i="0">
                <a:solidFill>
                  <a:srgbClr val="1C1915"/>
                </a:solidFill>
                <a:latin typeface="Arial"/>
              </a:rPr>
              <a:t>a lista </a:t>
            </a:r>
            <a:r>
              <a:rPr sz="1450" b="0" i="0">
                <a:solidFill>
                  <a:srgbClr val="8F5F19"/>
                </a:solidFill>
                <a:latin typeface="Consolas"/>
              </a:rPr>
              <a:t>FABRICANTES_CONHECIDOS</a:t>
            </a:r>
            <a:r>
              <a:rPr sz="1450" b="0" i="0">
                <a:solidFill>
                  <a:srgbClr val="1C1915"/>
                </a:solidFill>
                <a:latin typeface="Arial"/>
              </a:rPr>
              <a:t> original tinha 8 marcas (WEG, SIEMENS, KSB...) — só </a:t>
            </a:r>
            <a:r>
              <a:rPr sz="1450" b="1" i="0">
                <a:solidFill>
                  <a:srgbClr val="A8432A"/>
                </a:solidFill>
                <a:latin typeface="Arial"/>
              </a:rPr>
              <a:t>1</a:t>
            </a:r>
            <a:r>
              <a:rPr sz="1450" b="0" i="0">
                <a:solidFill>
                  <a:srgbClr val="1C1915"/>
                </a:solidFill>
                <a:latin typeface="Arial"/>
              </a:rPr>
              <a:t> aparecia de fato nas 30 imagens de teste. WAL-TECH, General Electric, DoALL, Maxiem Waterjets, Econoline e Fieldvue nunca seriam reconhecidos, mesmo com OCR perfeito.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343400"/>
            <a:ext cx="5120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 i="0">
                <a:solidFill>
                  <a:srgbClr val="6B6F6A"/>
                </a:solidFill>
                <a:latin typeface="Arial"/>
              </a:rPr>
              <a:t>Ampliamos a lista para as marcas reais do conjunto — mas o teto estrutural continua: qualquer marca fora da lista nunca conta como acerto. É limite da abordagem por regras, não da qualidade do OCR.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6A"/>
                </a:solidFill>
                <a:latin typeface="Arial"/>
              </a:rPr>
              <a:t>Sprint 3 — Forzy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2375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6A"/>
                </a:solidFill>
                <a:latin typeface="Arial"/>
              </a:rPr>
              <a:t>Célula 16 do notebook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40">
                <a:solidFill>
                  <a:srgbClr val="6B6F6A"/>
                </a:solidFill>
                <a:latin typeface="Arial"/>
              </a:rPr>
              <a:t>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8F5F19"/>
                </a:solidFill>
                <a:latin typeface="Consolas"/>
              </a:rPr>
              <a:t>08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185855" cy="1778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 i="0">
                <a:solidFill>
                  <a:srgbClr val="1C1915"/>
                </a:solidFill>
                <a:latin typeface="Arial Black"/>
              </a:rPr>
              <a:t>30 imagens, gabarito manual, sem espiar as respostas dos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50" b="0" i="0">
                <a:solidFill>
                  <a:srgbClr val="6B6F6A"/>
                </a:solidFill>
                <a:latin typeface="Arial"/>
              </a:rPr>
              <a:t>Índices 10–39 do dataset — diferentes das 10 já usadas de demonstração na Sprint 2. Cada imagem foi inspecionada diretamente para definir o valor esperado dos 5 campos, antes de rodar qualquer abordagem.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880360"/>
            <a:ext cx="3429000" cy="2377440"/>
          </a:xfrm>
          <a:prstGeom prst="roundRect">
            <a:avLst>
              <a:gd name="adj" fmla="val 3000"/>
            </a:avLst>
          </a:prstGeom>
          <a:solidFill>
            <a:srgbClr val="D9D6C9"/>
          </a:solidFill>
          <a:ln w="9525">
            <a:solidFill>
              <a:srgbClr val="C9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008376"/>
            <a:ext cx="3099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8F5F19"/>
                </a:solidFill>
                <a:latin typeface="Consolas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93592"/>
            <a:ext cx="3099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0" i="0">
                <a:solidFill>
                  <a:srgbClr val="6B6F6A"/>
                </a:solidFill>
                <a:latin typeface="Arial"/>
              </a:rPr>
              <a:t>imagens de teste, exclusivas para avaliação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7952" y="2880360"/>
            <a:ext cx="3429000" cy="2377440"/>
          </a:xfrm>
          <a:prstGeom prst="roundRect">
            <a:avLst>
              <a:gd name="adj" fmla="val 3000"/>
            </a:avLst>
          </a:prstGeom>
          <a:solidFill>
            <a:srgbClr val="D9D6C9"/>
          </a:solidFill>
          <a:ln w="9525">
            <a:solidFill>
              <a:srgbClr val="C9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3008376"/>
            <a:ext cx="3099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A8432A"/>
                </a:solidFill>
                <a:latin typeface="Consolas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2544" y="3593592"/>
            <a:ext cx="3099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0" i="0">
                <a:solidFill>
                  <a:srgbClr val="6B6F6A"/>
                </a:solidFill>
                <a:latin typeface="Arial"/>
              </a:rPr>
              <a:t>100% ilegíveis — foto de conjunto, corrosão ou reflexo (gabarito todo “N/A”)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2984" y="2880360"/>
            <a:ext cx="3429000" cy="2377440"/>
          </a:xfrm>
          <a:prstGeom prst="roundRect">
            <a:avLst>
              <a:gd name="adj" fmla="val 3000"/>
            </a:avLst>
          </a:prstGeom>
          <a:solidFill>
            <a:srgbClr val="D9D6C9"/>
          </a:solidFill>
          <a:ln w="9525">
            <a:solidFill>
              <a:srgbClr val="C9C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7576" y="3008376"/>
            <a:ext cx="30998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F6F63"/>
                </a:solidFill>
                <a:latin typeface="Consolas"/>
              </a:rP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7576" y="3593592"/>
            <a:ext cx="3099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0" i="0">
                <a:solidFill>
                  <a:srgbClr val="6B6F6A"/>
                </a:solidFill>
                <a:latin typeface="Arial"/>
              </a:rPr>
              <a:t>com pelo menos 1 campo real e legível no gabarito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6A"/>
                </a:solidFill>
                <a:latin typeface="Arial"/>
              </a:rPr>
              <a:t>Sprint 3 — Forzy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2375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6A"/>
                </a:solidFill>
                <a:latin typeface="Arial"/>
              </a:rPr>
              <a:t>gabarito_30_imagens.csv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40">
                <a:solidFill>
                  <a:srgbClr val="6B6F6A"/>
                </a:solidFill>
                <a:latin typeface="Arial"/>
              </a:rPr>
              <a:t>LIÇÃO DE ENGENHARIA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8F5F19"/>
                </a:solidFill>
                <a:latin typeface="Consolas"/>
              </a:rPr>
              <a:t>09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185855" cy="1778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C1915"/>
                </a:solidFill>
                <a:latin typeface="Arial Black"/>
              </a:rPr>
              <a:t>"N/A" quase nos enganou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212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8F5F19"/>
                </a:solidFill>
                <a:latin typeface="Arial"/>
              </a:rPr>
              <a:t>pandas.read_csv</a:t>
            </a:r>
            <a:r>
              <a:rPr sz="1350" b="0" i="0">
                <a:solidFill>
                  <a:srgbClr val="1C1915"/>
                </a:solidFill>
                <a:latin typeface="Arial"/>
              </a:rPr>
              <a:t> trata a string </a:t>
            </a:r>
            <a:r>
              <a:rPr sz="1350" b="0" i="0">
                <a:solidFill>
                  <a:srgbClr val="8F5F19"/>
                </a:solidFill>
                <a:latin typeface="Arial"/>
              </a:rPr>
              <a:t>"N/A"</a:t>
            </a:r>
            <a:r>
              <a:rPr sz="1350" b="0" i="0">
                <a:solidFill>
                  <a:srgbClr val="1C1915"/>
                </a:solidFill>
                <a:latin typeface="Arial"/>
              </a:rPr>
              <a:t> como valor ausente por padrão — convertendo pra </a:t>
            </a:r>
            <a:r>
              <a:rPr sz="1350" b="0" i="0">
                <a:solidFill>
                  <a:srgbClr val="8F5F19"/>
                </a:solidFill>
                <a:latin typeface="Arial"/>
              </a:rPr>
              <a:t>NaN</a:t>
            </a:r>
            <a:r>
              <a:rPr sz="1350" b="0" i="0">
                <a:solidFill>
                  <a:srgbClr val="1C1915"/>
                </a:solidFill>
                <a:latin typeface="Arial"/>
              </a:rPr>
              <a:t> só do lado do gabarito, nunca do lado das previsões (que ficam em memória). Resultado: até os acertos triviais (“nada” vs “nada”) contavam como erro.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114800"/>
            <a:ext cx="38100" cy="685800"/>
          </a:xfrm>
          <a:prstGeom prst="rect">
            <a:avLst/>
          </a:prstGeom>
          <a:solidFill>
            <a:srgbClr val="A8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4114800"/>
            <a:ext cx="50474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1" i="0" spc="60">
                <a:solidFill>
                  <a:srgbClr val="A8432A"/>
                </a:solidFill>
                <a:latin typeface="Arial"/>
              </a:rPr>
              <a:t>ANTES DO FIX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250" b="0" i="0">
                <a:solidFill>
                  <a:srgbClr val="1C1915"/>
                </a:solidFill>
                <a:latin typeface="Arial"/>
              </a:rPr>
              <a:t>EasyOCR = 3,3% · Tesseract = 0,7%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937760"/>
            <a:ext cx="38100" cy="685800"/>
          </a:xfrm>
          <a:prstGeom prst="rect">
            <a:avLst/>
          </a:prstGeom>
          <a:solidFill>
            <a:srgbClr val="3F6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4937760"/>
            <a:ext cx="50474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1" i="0" spc="60">
                <a:solidFill>
                  <a:srgbClr val="3F6F63"/>
                </a:solidFill>
                <a:latin typeface="Arial"/>
              </a:rPr>
              <a:t>DEPOIS DO FIX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250" b="0" i="0">
                <a:solidFill>
                  <a:srgbClr val="1C1915"/>
                </a:solidFill>
                <a:latin typeface="Arial"/>
              </a:rPr>
              <a:t>EasyOCR = 82,7% · Tesseract = 80,0%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828800"/>
            <a:ext cx="5303520" cy="3794760"/>
          </a:xfrm>
          <a:prstGeom prst="roundRect">
            <a:avLst>
              <a:gd name="adj" fmla="val 3000"/>
            </a:avLst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956816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B8579"/>
                </a:solidFill>
                <a:latin typeface="Consolas"/>
              </a:rPr>
              <a:t>calculo_acuracia.py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286000"/>
            <a:ext cx="49377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50" b="0" i="0">
                <a:solidFill>
                  <a:srgbClr val="D9A83C"/>
                </a:solidFill>
                <a:latin typeface="Consolas"/>
              </a:rPr>
              <a:t>def 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normalizar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(txt):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D9A83C"/>
                </a:solidFill>
                <a:latin typeface="Consolas"/>
              </a:rPr>
              <a:t>    if 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pd.isna(txt):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D9A83C"/>
                </a:solidFill>
                <a:latin typeface="Consolas"/>
              </a:rPr>
              <a:t>        return </a:t>
            </a:r>
            <a:r>
              <a:rPr sz="1250" b="0" i="0">
                <a:solidFill>
                  <a:srgbClr val="8FC7B4"/>
                </a:solidFill>
                <a:latin typeface="Consolas"/>
              </a:rPr>
              <a:t>""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D9A83C"/>
                </a:solidFill>
                <a:latin typeface="Consolas"/>
              </a:rPr>
              <a:t>    return 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str(txt).strip().upper().replace(</a:t>
            </a:r>
            <a:r>
              <a:rPr sz="1250" b="0" i="0">
                <a:solidFill>
                  <a:srgbClr val="8FC7B4"/>
                </a:solidFill>
                <a:latin typeface="Consolas"/>
              </a:rPr>
              <a:t>" "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, </a:t>
            </a:r>
            <a:r>
              <a:rPr sz="1250" b="0" i="0">
                <a:solidFill>
                  <a:srgbClr val="8FC7B4"/>
                </a:solidFill>
                <a:latin typeface="Consolas"/>
              </a:rPr>
              <a:t>""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)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8B8579"/>
                </a:solidFill>
                <a:latin typeface="Consolas"/>
              </a:rPr>
              <a:t># antes: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8B8579"/>
                </a:solidFill>
                <a:latin typeface="Consolas"/>
              </a:rPr>
              <a:t># pd.read_csv("gabarito_30_imagens.csv")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8B8579"/>
                </a:solidFill>
                <a:latin typeface="Consolas"/>
              </a:rPr>
              <a:t># depois: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df_gabarito = pd.read_csv(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8FC7B4"/>
                </a:solidFill>
                <a:latin typeface="Consolas"/>
              </a:rPr>
              <a:t>    "gabarito_30_imagens.csv"</a:t>
            </a:r>
            <a:r>
              <a:rPr sz="1250" b="0" i="0">
                <a:solidFill>
                  <a:srgbClr val="E7E2D6"/>
                </a:solidFill>
                <a:latin typeface="Consolas"/>
              </a:rPr>
              <a:t>,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    keep_default_na=</a:t>
            </a:r>
            <a:r>
              <a:rPr sz="1250" b="0" i="0">
                <a:solidFill>
                  <a:srgbClr val="D9A83C"/>
                </a:solidFill>
                <a:latin typeface="Consolas"/>
              </a:rPr>
              <a:t>False</a:t>
            </a:r>
            <a:r>
              <a:rPr sz="1250" b="0" i="0">
                <a:solidFill>
                  <a:srgbClr val="8B8579"/>
                </a:solidFill>
                <a:latin typeface="Consolas"/>
              </a:rPr>
              <a:t>   # &lt;- o fix</a:t>
            </a:r>
          </a:p>
          <a:p>
            <a:pPr>
              <a:lnSpc>
                <a:spcPct val="128000"/>
              </a:lnSpc>
            </a:pPr>
            <a:r>
              <a:rPr sz="1250" b="0" i="0">
                <a:solidFill>
                  <a:srgbClr val="E7E2D6"/>
                </a:solidFill>
                <a:latin typeface="Consolas"/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6A"/>
                </a:solidFill>
                <a:latin typeface="Arial"/>
              </a:rPr>
              <a:t>Sprint 3 — Forzy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2375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6A"/>
                </a:solidFill>
                <a:latin typeface="Arial"/>
              </a:rPr>
              <a:t>Célula 22 do notebook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40">
                <a:solidFill>
                  <a:srgbClr val="6B6F6A"/>
                </a:solidFill>
                <a:latin typeface="Arial"/>
              </a:rPr>
              <a:t>RESULTADO —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8F5F19"/>
                </a:solidFill>
                <a:latin typeface="Consolas"/>
              </a:rPr>
              <a:t>10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185855" cy="1778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C1915"/>
                </a:solidFill>
                <a:latin typeface="Arial Black"/>
              </a:rPr>
              <a:t>84,7% x 82,7% x 80,0%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 i="0">
                <a:solidFill>
                  <a:srgbClr val="6B6F6A"/>
                </a:solidFill>
                <a:latin typeface="Arial"/>
              </a:rPr>
              <a:t>Acurácia média geral e CER (Character Error Rate — quanto menor, melhor) nas 30 imagens de teste.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331720"/>
          <a:ext cx="7863840" cy="1645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404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6B6F6A"/>
                          </a:solidFill>
                          <a:latin typeface="Arial"/>
                        </a:rPr>
                        <a:t>Abordagem</a:t>
                      </a:r>
                    </a:p>
                  </a:txBody>
                  <a:tcPr marL="73152" marR="73152" marT="36576" marB="36576" anchor="ctr">
                    <a:solidFill>
                      <a:srgbClr val="D9D6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6B6F6A"/>
                          </a:solidFill>
                          <a:latin typeface="Arial"/>
                        </a:rPr>
                        <a:t>Acurácia geral</a:t>
                      </a:r>
                    </a:p>
                  </a:txBody>
                  <a:tcPr marL="73152" marR="73152" marT="36576" marB="36576" anchor="ctr">
                    <a:solidFill>
                      <a:srgbClr val="D9D6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6B6F6A"/>
                          </a:solidFill>
                          <a:latin typeface="Arial"/>
                        </a:rPr>
                        <a:t>CER médio</a:t>
                      </a:r>
                    </a:p>
                  </a:txBody>
                  <a:tcPr marL="73152" marR="73152" marT="36576" marB="36576" anchor="ctr">
                    <a:solidFill>
                      <a:srgbClr val="D9D6C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1915"/>
                          </a:solidFill>
                          <a:latin typeface="Arial"/>
                        </a:rPr>
                        <a:t>GPT-4o-mini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3F6F63"/>
                          </a:solidFill>
                          <a:latin typeface="Consolas"/>
                        </a:rPr>
                        <a:t>84,7%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3F6F63"/>
                          </a:solidFill>
                          <a:latin typeface="Consolas"/>
                        </a:rPr>
                        <a:t>0,251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1915"/>
                          </a:solidFill>
                          <a:latin typeface="Arial"/>
                        </a:rPr>
                        <a:t>EasyOCR + regex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C1915"/>
                          </a:solidFill>
                          <a:latin typeface="Consolas"/>
                        </a:rPr>
                        <a:t>82,7%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C1915"/>
                          </a:solidFill>
                          <a:latin typeface="Consolas"/>
                        </a:rPr>
                        <a:t>0,253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1915"/>
                          </a:solidFill>
                          <a:latin typeface="Arial"/>
                        </a:rPr>
                        <a:t>Tesseract + regex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C1915"/>
                          </a:solidFill>
                          <a:latin typeface="Consolas"/>
                        </a:rPr>
                        <a:t>80,0%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C1915"/>
                          </a:solidFill>
                          <a:latin typeface="Consolas"/>
                        </a:rPr>
                        <a:t>0,295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4343400"/>
            <a:ext cx="10698480" cy="1270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526280"/>
            <a:ext cx="10698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A8432A"/>
                </a:solidFill>
                <a:latin typeface="Arial"/>
              </a:rPr>
              <a:t>⚠ </a:t>
            </a:r>
            <a:r>
              <a:rPr sz="1300" b="0" i="0">
                <a:solidFill>
                  <a:srgbClr val="6B6F6A"/>
                </a:solidFill>
                <a:latin typeface="Arial"/>
              </a:rPr>
              <a:t>Este número é inflado: 21 das 30 imagens têm gabarito “N/A” em tudo, e acertar “não há nada pra ler” conta como acerto pras três abordagens igualmente. O CER do GPT-4o (0,251) já fica bem próximo do EasyOCR (0,253) — o sinal de verdade está no próximo slide.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6A"/>
                </a:solidFill>
                <a:latin typeface="Arial"/>
              </a:rPr>
              <a:t>Sprint 3 — Forzy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2375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6A"/>
                </a:solidFill>
                <a:latin typeface="Arial"/>
              </a:rPr>
              <a:t>acuracia_sprint3.csv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40">
                <a:solidFill>
                  <a:srgbClr val="6B6F6A"/>
                </a:solidFill>
                <a:latin typeface="Arial"/>
              </a:rPr>
              <a:t>RESULTADO — O NÚMERO QUE IMPORTA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8F5F19"/>
                </a:solidFill>
                <a:latin typeface="Consolas"/>
              </a:rPr>
              <a:t>11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185855" cy="1778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1C1915"/>
                </a:solidFill>
                <a:latin typeface="Arial Black"/>
              </a:rPr>
              <a:t>Só nos casos em que havia algo real pra 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50" b="0" i="0">
                <a:solidFill>
                  <a:srgbClr val="6B6F6A"/>
                </a:solidFill>
                <a:latin typeface="Arial"/>
              </a:rPr>
              <a:t>Mesmos dados, filtrando os casos triviais — aqui a diferença entre “casar um padrão de texto” e “entender a placa” fica óbvia.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331720"/>
          <a:ext cx="10607040" cy="3291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23360"/>
                <a:gridCol w="2194560"/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6B6F6A"/>
                          </a:solidFill>
                          <a:latin typeface="Arial"/>
                        </a:rPr>
                        <a:t>Campo (n imagens)</a:t>
                      </a:r>
                    </a:p>
                  </a:txBody>
                  <a:tcPr marL="73152" marR="73152" marT="36576" marB="36576" anchor="ctr">
                    <a:solidFill>
                      <a:srgbClr val="D9D6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6B6F6A"/>
                          </a:solidFill>
                          <a:latin typeface="Arial"/>
                        </a:rPr>
                        <a:t>EasyOCR</a:t>
                      </a:r>
                    </a:p>
                  </a:txBody>
                  <a:tcPr marL="73152" marR="73152" marT="36576" marB="36576" anchor="ctr">
                    <a:solidFill>
                      <a:srgbClr val="D9D6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6B6F6A"/>
                          </a:solidFill>
                          <a:latin typeface="Arial"/>
                        </a:rPr>
                        <a:t>Tesseract</a:t>
                      </a:r>
                    </a:p>
                  </a:txBody>
                  <a:tcPr marL="73152" marR="73152" marT="36576" marB="36576" anchor="ctr">
                    <a:solidFill>
                      <a:srgbClr val="D9D6C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 i="0">
                          <a:solidFill>
                            <a:srgbClr val="6B6F6A"/>
                          </a:solidFill>
                          <a:latin typeface="Arial"/>
                        </a:rPr>
                        <a:t>GPT-4o</a:t>
                      </a:r>
                    </a:p>
                  </a:txBody>
                  <a:tcPr marL="73152" marR="73152" marT="36576" marB="36576" anchor="ctr">
                    <a:solidFill>
                      <a:srgbClr val="D9D6C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1915"/>
                          </a:solidFill>
                          <a:latin typeface="Arial"/>
                        </a:rPr>
                        <a:t>codigo_ativo (8)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C1915"/>
                          </a:solidFill>
                          <a:latin typeface="Consolas"/>
                        </a:rPr>
                        <a:t>25,0%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C1915"/>
                          </a:solidFill>
                          <a:latin typeface="Consolas"/>
                        </a:rPr>
                        <a:t>12,5%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3F6F63"/>
                          </a:solidFill>
                          <a:latin typeface="Consolas"/>
                        </a:rPr>
                        <a:t>75,0%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1915"/>
                          </a:solidFill>
                          <a:latin typeface="Arial"/>
                        </a:rPr>
                        <a:t>fabricante (9)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C1915"/>
                          </a:solidFill>
                          <a:latin typeface="Consolas"/>
                        </a:rPr>
                        <a:t>33,3%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C1915"/>
                          </a:solidFill>
                          <a:latin typeface="Consolas"/>
                        </a:rPr>
                        <a:t>0,0%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C1915"/>
                          </a:solidFill>
                          <a:latin typeface="Consolas"/>
                        </a:rPr>
                        <a:t>33,3%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1915"/>
                          </a:solidFill>
                          <a:latin typeface="Arial"/>
                        </a:rPr>
                        <a:t>modelo (4)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C1915"/>
                          </a:solidFill>
                          <a:latin typeface="Consolas"/>
                        </a:rPr>
                        <a:t>0,0%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C1915"/>
                          </a:solidFill>
                          <a:latin typeface="Consolas"/>
                        </a:rPr>
                        <a:t>0,0%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3F6F63"/>
                          </a:solidFill>
                          <a:latin typeface="Consolas"/>
                        </a:rPr>
                        <a:t>50,0%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1915"/>
                          </a:solidFill>
                          <a:latin typeface="Arial"/>
                        </a:rPr>
                        <a:t>numero_serie (4)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C1915"/>
                          </a:solidFill>
                          <a:latin typeface="Consolas"/>
                        </a:rPr>
                        <a:t>0,0%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C1915"/>
                          </a:solidFill>
                          <a:latin typeface="Consolas"/>
                        </a:rPr>
                        <a:t>0,0%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3F6F63"/>
                          </a:solidFill>
                          <a:latin typeface="Consolas"/>
                        </a:rPr>
                        <a:t>50,0%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1915"/>
                          </a:solidFill>
                          <a:latin typeface="Arial"/>
                        </a:rPr>
                        <a:t>potencia (6)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C1915"/>
                          </a:solidFill>
                          <a:latin typeface="Consolas"/>
                        </a:rPr>
                        <a:t>0,0%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C1915"/>
                          </a:solidFill>
                          <a:latin typeface="Consolas"/>
                        </a:rPr>
                        <a:t>0,0%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3F6F63"/>
                          </a:solidFill>
                          <a:latin typeface="Consolas"/>
                        </a:rPr>
                        <a:t>50,0%</a:t>
                      </a:r>
                    </a:p>
                  </a:txBody>
                  <a:tcPr marL="73152" marR="73152" marT="27432" marB="27432" anchor="ctr">
                    <a:solidFill>
                      <a:srgbClr val="ECEBE4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6A"/>
                </a:solidFill>
                <a:latin typeface="Arial"/>
              </a:rPr>
              <a:t>Sprint 3 — Forzy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2375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6A"/>
                </a:solidFill>
                <a:latin typeface="Arial"/>
              </a:rPr>
              <a:t>Leitura crítica dos resultados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40">
                <a:solidFill>
                  <a:srgbClr val="6B6F6A"/>
                </a:solidFill>
                <a:latin typeface="Arial"/>
              </a:rPr>
              <a:t>ACERTOS E ALUCINAÇÕES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8F5F19"/>
                </a:solidFill>
                <a:latin typeface="Consolas"/>
              </a:rPr>
              <a:t>12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185855" cy="1778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C1915"/>
                </a:solidFill>
                <a:latin typeface="Arial Black"/>
              </a:rPr>
              <a:t>Quatro imagens, quatro histórias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38100" cy="1737360"/>
          </a:xfrm>
          <a:prstGeom prst="rect">
            <a:avLst/>
          </a:prstGeom>
          <a:solidFill>
            <a:srgbClr val="3F6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874519"/>
            <a:ext cx="504748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1" i="0" spc="60">
                <a:solidFill>
                  <a:srgbClr val="3F6F63"/>
                </a:solidFill>
                <a:latin typeface="Arial"/>
              </a:rPr>
              <a:t>PLACA_TESTE_13 — ACERTO DE LAYOUT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250" b="0" i="0">
                <a:solidFill>
                  <a:srgbClr val="1C1915"/>
                </a:solidFill>
                <a:latin typeface="Arial"/>
              </a:rPr>
              <a:t>EasyOCR leu o texto certo, mas o regex misturou dígitos do código com o campo HP: </a:t>
            </a:r>
            <a:r>
              <a:rPr sz="1250" b="1" i="0">
                <a:solidFill>
                  <a:srgbClr val="A8432A"/>
                </a:solidFill>
                <a:latin typeface="Arial"/>
              </a:rPr>
              <a:t>"5018 HP"</a:t>
            </a:r>
            <a:r>
              <a:rPr sz="1250" b="0" i="0">
                <a:solidFill>
                  <a:srgbClr val="1C1915"/>
                </a:solidFill>
                <a:latin typeface="Arial"/>
              </a:rPr>
              <a:t> em vez de </a:t>
            </a:r>
            <a:r>
              <a:rPr sz="1250" b="1" i="0">
                <a:solidFill>
                  <a:srgbClr val="3F6F63"/>
                </a:solidFill>
                <a:latin typeface="Arial"/>
              </a:rPr>
              <a:t>"150 HP"</a:t>
            </a:r>
            <a:r>
              <a:rPr sz="1250" b="0" i="0">
                <a:solidFill>
                  <a:srgbClr val="1C1915"/>
                </a:solidFill>
                <a:latin typeface="Arial"/>
              </a:rPr>
              <a:t>. GPT-4o acertou os dois campos.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794760"/>
            <a:ext cx="38100" cy="1737360"/>
          </a:xfrm>
          <a:prstGeom prst="rect">
            <a:avLst/>
          </a:prstGeom>
          <a:solidFill>
            <a:srgbClr val="3F6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794760"/>
            <a:ext cx="504748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1" i="0" spc="60">
                <a:solidFill>
                  <a:srgbClr val="3F6F63"/>
                </a:solidFill>
                <a:latin typeface="Arial"/>
              </a:rPr>
              <a:t>PLACA_TESTE_20 — TODAS ACERTAM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250" b="0" i="0">
                <a:solidFill>
                  <a:srgbClr val="1C1915"/>
                </a:solidFill>
                <a:latin typeface="Arial"/>
              </a:rPr>
              <a:t>Tag amarela grande, bem iluminada: as três abordagens leram </a:t>
            </a:r>
            <a:r>
              <a:rPr sz="1250" b="1" i="0">
                <a:solidFill>
                  <a:srgbClr val="3F6F63"/>
                </a:solidFill>
                <a:latin typeface="Arial"/>
              </a:rPr>
              <a:t>025-M-1432</a:t>
            </a:r>
            <a:r>
              <a:rPr sz="1250" b="0" i="0">
                <a:solidFill>
                  <a:srgbClr val="1C1915"/>
                </a:solidFill>
                <a:latin typeface="Arial"/>
              </a:rPr>
              <a:t> corretamente. Em boas condições, a diferença quase some.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74519"/>
            <a:ext cx="38100" cy="1737360"/>
          </a:xfrm>
          <a:prstGeom prst="rect">
            <a:avLst/>
          </a:prstGeom>
          <a:solidFill>
            <a:srgbClr val="A8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912" y="1874519"/>
            <a:ext cx="504748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1" i="0" spc="60">
                <a:solidFill>
                  <a:srgbClr val="A8432A"/>
                </a:solidFill>
                <a:latin typeface="Arial"/>
              </a:rPr>
              <a:t>PLACA_TESTE_25 — ALUCINAÇÃO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250" b="0" i="0">
                <a:solidFill>
                  <a:srgbClr val="1C1915"/>
                </a:solidFill>
                <a:latin typeface="Arial"/>
              </a:rPr>
              <a:t>Gabarito só tinha </a:t>
            </a:r>
            <a:r>
              <a:rPr sz="1250" b="1" i="0">
                <a:solidFill>
                  <a:srgbClr val="1C1915"/>
                </a:solidFill>
                <a:latin typeface="Arial"/>
              </a:rPr>
              <a:t>codigo_ativo</a:t>
            </a:r>
            <a:r>
              <a:rPr sz="1250" b="0" i="0">
                <a:solidFill>
                  <a:srgbClr val="1C1915"/>
                </a:solidFill>
                <a:latin typeface="Arial"/>
              </a:rPr>
              <a:t>. GPT-4o “inventou” modelo = </a:t>
            </a:r>
            <a:r>
              <a:rPr sz="1250" b="1" i="0">
                <a:solidFill>
                  <a:srgbClr val="A8432A"/>
                </a:solidFill>
                <a:latin typeface="Arial"/>
              </a:rPr>
              <a:t>"K2 SPARE COOK..."</a:t>
            </a:r>
            <a:r>
              <a:rPr sz="1250" b="0" i="0">
                <a:solidFill>
                  <a:srgbClr val="1C1915"/>
                </a:solidFill>
                <a:latin typeface="Arial"/>
              </a:rPr>
              <a:t> a partir do código de localização funcional da tag — não é um modelo real.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3794760"/>
            <a:ext cx="38100" cy="1737360"/>
          </a:xfrm>
          <a:prstGeom prst="rect">
            <a:avLst/>
          </a:prstGeom>
          <a:solidFill>
            <a:srgbClr val="A84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3794760"/>
            <a:ext cx="5047488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1" i="0" spc="60">
                <a:solidFill>
                  <a:srgbClr val="A8432A"/>
                </a:solidFill>
                <a:latin typeface="Arial"/>
              </a:rPr>
              <a:t>PLACA_TESTE_29 — PLACA ILEGÍVEL</a:t>
            </a:r>
          </a:p>
          <a:p>
            <a:pPr>
              <a:lnSpc>
                <a:spcPct val="122000"/>
              </a:lnSpc>
              <a:spcBef>
                <a:spcPts val="300"/>
              </a:spcBef>
            </a:pPr>
            <a:r>
              <a:rPr sz="1250" b="0" i="0">
                <a:solidFill>
                  <a:srgbClr val="1C1915"/>
                </a:solidFill>
                <a:latin typeface="Arial"/>
              </a:rPr>
              <a:t>Reflexo de luz cobrindo todos os campos. GPT-4o devolveu </a:t>
            </a:r>
            <a:r>
              <a:rPr sz="1250" b="1" i="0">
                <a:solidFill>
                  <a:srgbClr val="A8432A"/>
                </a:solidFill>
                <a:latin typeface="Arial"/>
              </a:rPr>
              <a:t>DOIS</a:t>
            </a:r>
            <a:r>
              <a:rPr sz="1250" b="0" i="0">
                <a:solidFill>
                  <a:srgbClr val="1C1915"/>
                </a:solidFill>
                <a:latin typeface="Arial"/>
              </a:rPr>
              <a:t> valores inventados: </a:t>
            </a:r>
            <a:r>
              <a:rPr sz="1250" b="1" i="0">
                <a:solidFill>
                  <a:srgbClr val="A8432A"/>
                </a:solidFill>
                <a:latin typeface="Arial"/>
              </a:rPr>
              <a:t>numero_serie = "150036"</a:t>
            </a:r>
            <a:r>
              <a:rPr sz="1250" b="0" i="0">
                <a:solidFill>
                  <a:srgbClr val="1C1915"/>
                </a:solidFill>
                <a:latin typeface="Arial"/>
              </a:rPr>
              <a:t> e </a:t>
            </a:r>
            <a:r>
              <a:rPr sz="1250" b="1" i="0">
                <a:solidFill>
                  <a:srgbClr val="A8432A"/>
                </a:solidFill>
                <a:latin typeface="Arial"/>
              </a:rPr>
              <a:t>potencia = "3 HP"</a:t>
            </a:r>
            <a:r>
              <a:rPr sz="1250" b="0" i="0">
                <a:solidFill>
                  <a:srgbClr val="1C1915"/>
                </a:solidFill>
                <a:latin typeface="Arial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6A"/>
                </a:solidFill>
                <a:latin typeface="Arial"/>
              </a:rPr>
              <a:t>Sprint 3 — Forzy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2375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6A"/>
                </a:solidFill>
                <a:latin typeface="Arial"/>
              </a:rPr>
              <a:t>resultados_brutos_sprint3.csv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40">
                <a:solidFill>
                  <a:srgbClr val="6B6F6A"/>
                </a:solidFill>
                <a:latin typeface="Arial"/>
              </a:rPr>
              <a:t>ONDE ISSO AINDA QUEBRA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3657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8F5F19"/>
                </a:solidFill>
                <a:latin typeface="Consolas"/>
              </a:rPr>
              <a:t>13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185855" cy="1778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96112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C1915"/>
                </a:solidFill>
                <a:latin typeface="Arial Black"/>
              </a:rPr>
              <a:t>Limitações e Sprint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A8432A"/>
                </a:solidFill>
                <a:latin typeface="Arial Black"/>
              </a:rPr>
              <a:t>Limitações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39"/>
            <a:ext cx="53492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A8432A"/>
                </a:solidFill>
                <a:latin typeface="Arial"/>
              </a:rPr>
              <a:t>— </a:t>
            </a:r>
            <a:r>
              <a:rPr sz="1300" b="0" i="0">
                <a:solidFill>
                  <a:srgbClr val="8F5F19"/>
                </a:solidFill>
                <a:latin typeface="Arial"/>
              </a:rPr>
              <a:t>modelo</a:t>
            </a:r>
            <a:r>
              <a:rPr sz="1300" b="0" i="0">
                <a:solidFill>
                  <a:srgbClr val="1C1915"/>
                </a:solidFill>
                <a:latin typeface="Arial"/>
              </a:rPr>
              <a:t> nunca é preenchido por regex — sem padrão textual genérico entre fabricantes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A8432A"/>
                </a:solidFill>
                <a:latin typeface="Arial"/>
              </a:rPr>
              <a:t>— </a:t>
            </a:r>
            <a:r>
              <a:rPr sz="1300" b="0" i="0">
                <a:solidFill>
                  <a:srgbClr val="1C1915"/>
                </a:solidFill>
                <a:latin typeface="Arial"/>
              </a:rPr>
              <a:t>13 de 30 imagens são falha total nas três abordagens: equipamento inteiro fora de foco, sem crop na placa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A8432A"/>
                </a:solidFill>
                <a:latin typeface="Arial"/>
              </a:rPr>
              <a:t>— </a:t>
            </a:r>
            <a:r>
              <a:rPr sz="1300" b="0" i="0">
                <a:solidFill>
                  <a:srgbClr val="1C1915"/>
                </a:solidFill>
                <a:latin typeface="Arial"/>
              </a:rPr>
              <a:t>GPT-4o não é determinístico e aluciona com confiança em placas ilegíveis (às vezes em 2 campos na mesma imagem)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A8432A"/>
                </a:solidFill>
                <a:latin typeface="Arial"/>
              </a:rPr>
              <a:t>— </a:t>
            </a:r>
            <a:r>
              <a:rPr sz="1300" b="0" i="0">
                <a:solidFill>
                  <a:srgbClr val="1C1915"/>
                </a:solidFill>
                <a:latin typeface="Arial"/>
              </a:rPr>
              <a:t>Gabarito definido por um integrante, por inspeção visual — sujeito a interpretação subjetiva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874519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3F6F63"/>
                </a:solidFill>
                <a:latin typeface="Arial Black"/>
              </a:rPr>
              <a:t>Sprint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377439"/>
            <a:ext cx="53492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3F6F63"/>
                </a:solidFill>
                <a:latin typeface="Arial"/>
              </a:rPr>
              <a:t>— </a:t>
            </a:r>
            <a:r>
              <a:rPr sz="1300" b="0" i="0">
                <a:solidFill>
                  <a:srgbClr val="1C1915"/>
                </a:solidFill>
                <a:latin typeface="Arial"/>
              </a:rPr>
              <a:t>Detecção automática da região da placa (YOLO) antes do OCR — ataca as 13 falhas totais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3F6F63"/>
                </a:solidFill>
                <a:latin typeface="Arial"/>
              </a:rPr>
              <a:t>— </a:t>
            </a:r>
            <a:r>
              <a:rPr sz="1300" b="0" i="0">
                <a:solidFill>
                  <a:srgbClr val="1C1915"/>
                </a:solidFill>
                <a:latin typeface="Arial"/>
              </a:rPr>
              <a:t>Pipeline híbrido: regex para codigo_ativo conhecido (barato) + GPT-4o só para campos ambíguos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3F6F63"/>
                </a:solidFill>
                <a:latin typeface="Arial"/>
              </a:rPr>
              <a:t>— </a:t>
            </a:r>
            <a:r>
              <a:rPr sz="1300" b="0" i="0">
                <a:solidFill>
                  <a:srgbClr val="1C1915"/>
                </a:solidFill>
                <a:latin typeface="Arial"/>
              </a:rPr>
              <a:t>Segundo passo de validação para reduzir alucinação em placas ilegíveis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3F6F63"/>
                </a:solidFill>
                <a:latin typeface="Arial"/>
              </a:rPr>
              <a:t>— </a:t>
            </a:r>
            <a:r>
              <a:rPr sz="1300" b="0" i="0">
                <a:solidFill>
                  <a:srgbClr val="1C1915"/>
                </a:solidFill>
                <a:latin typeface="Arial"/>
              </a:rPr>
              <a:t>Integração com a planta visual e telemetria Pepperl+Fuchs da Sprint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6A"/>
                </a:solidFill>
                <a:latin typeface="Arial"/>
              </a:rPr>
              <a:t>Sprint 3 — Forzy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2375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6A"/>
                </a:solidFill>
                <a:latin typeface="Arial"/>
              </a:rPr>
              <a:t>Conclusões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140">
                <a:solidFill>
                  <a:srgbClr val="8F5F19"/>
                </a:solidFill>
                <a:latin typeface="Arial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9144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400" b="1" i="0">
                <a:solidFill>
                  <a:srgbClr val="1C1915"/>
                </a:solidFill>
                <a:latin typeface="Arial Black"/>
              </a:rPr>
              <a:t>Perguntas?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033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6B6F6A"/>
                </a:solidFill>
                <a:latin typeface="Arial"/>
              </a:rPr>
              <a:t>Notebook, gabarito, resultados brutos e este material estão no repositório da Sprint 3.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C9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6F6A"/>
                </a:solidFill>
                <a:latin typeface="Arial"/>
              </a:rPr>
              <a:t>Grupo CodeX — Projeto Forzy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2375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6F6A"/>
                </a:solidFill>
                <a:latin typeface="Arial"/>
              </a:rPr>
              <a:t>Sprint3_Multiabordagem_Forzy.ipynb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